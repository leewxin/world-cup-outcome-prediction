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20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B4332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B4332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 —  BDS23114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Modeling of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FIFA World Cup Match Outcomes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predicting — and explaining — why one team beats another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2743200" cy="0"/>
          </a:xfrm>
          <a:prstGeom prst="line">
            <a:avLst/>
          </a:prstGeom>
          <a:noFill/>
          <a:ln w="19050">
            <a:solidFill>
              <a:srgbClr val="C99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46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Wen Xin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BIT-B2201F-2505004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Dr. Ng Choon Ching   •   May 2026 Semester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looks random on the surface — but across thousands of matches, clear patterns emerge.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1371600"/>
          </a:xfrm>
          <a:prstGeom prst="roundRect">
            <a:avLst>
              <a:gd name="adj" fmla="val 6667"/>
            </a:avLst>
          </a:prstGeom>
          <a:solidFill>
            <a:srgbClr val="EAF2E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385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33172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of a match — Win, Draw, or Loss — from the home team's perspective.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1783080"/>
            <a:ext cx="5074920" cy="1371600"/>
          </a:xfrm>
          <a:prstGeom prst="roundRect">
            <a:avLst>
              <a:gd name="adj" fmla="val 6667"/>
            </a:avLst>
          </a:prstGeom>
          <a:solidFill>
            <a:srgbClr val="EAF2EC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2011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19385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12280" y="233172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team beats another, using interpretable pre-match strength indicators.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9319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match outcomes be predicted more accurately than a naive baseline?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46177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factors explain a win, and how much does each contribute?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303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303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3035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factors generalise to World Cup matches, including the 2022 tournament?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BDS23114 Data Analytics  •  Predictive Modeling of FIFA World Cup Match Outcomes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Football Results, 1872–2026 — Kaggle (martj42), continuously-updated snapshot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EAF2E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1051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49,490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EAF2EC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81051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37560" y="2468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EAF2EC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81051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35040" y="2468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history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32520" y="16916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EAF2EC"/>
          </a:solidFill>
          <a:ln/>
        </p:spPr>
      </p:sp>
      <p:sp>
        <p:nvSpPr>
          <p:cNvPr id="14" name="Text 12"/>
          <p:cNvSpPr/>
          <p:nvPr/>
        </p:nvSpPr>
        <p:spPr>
          <a:xfrm>
            <a:off x="8732520" y="181051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732520" y="2468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files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balance (home team's perspective)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377440" y="3758184"/>
            <a:ext cx="6583680" cy="274320"/>
          </a:xfrm>
          <a:prstGeom prst="roundRect">
            <a:avLst>
              <a:gd name="adj" fmla="val 13333"/>
            </a:avLst>
          </a:prstGeom>
          <a:solidFill>
            <a:srgbClr val="E7E7E2"/>
          </a:solidFill>
          <a:ln/>
        </p:spPr>
      </p:sp>
      <p:sp>
        <p:nvSpPr>
          <p:cNvPr id="19" name="Shape 17"/>
          <p:cNvSpPr/>
          <p:nvPr/>
        </p:nvSpPr>
        <p:spPr>
          <a:xfrm>
            <a:off x="2377440" y="3758184"/>
            <a:ext cx="6583680" cy="27432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49.0%  (24,253)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win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377440" y="4261104"/>
            <a:ext cx="6583680" cy="274320"/>
          </a:xfrm>
          <a:prstGeom prst="roundRect">
            <a:avLst>
              <a:gd name="adj" fmla="val 13333"/>
            </a:avLst>
          </a:prstGeom>
          <a:solidFill>
            <a:srgbClr val="E7E7E2"/>
          </a:solidFill>
          <a:ln/>
        </p:spPr>
      </p:sp>
      <p:sp>
        <p:nvSpPr>
          <p:cNvPr id="23" name="Shape 21"/>
          <p:cNvSpPr/>
          <p:nvPr/>
        </p:nvSpPr>
        <p:spPr>
          <a:xfrm>
            <a:off x="2377440" y="4261104"/>
            <a:ext cx="3802411" cy="274320"/>
          </a:xfrm>
          <a:prstGeom prst="roundRect">
            <a:avLst>
              <a:gd name="adj" fmla="val 13333"/>
            </a:avLst>
          </a:prstGeom>
          <a:solidFill>
            <a:srgbClr val="C99A2E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4206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28.3%  (13,981)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709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377440" y="4764024"/>
            <a:ext cx="6583680" cy="274320"/>
          </a:xfrm>
          <a:prstGeom prst="roundRect">
            <a:avLst>
              <a:gd name="adj" fmla="val 13333"/>
            </a:avLst>
          </a:prstGeom>
          <a:solidFill>
            <a:srgbClr val="E7E7E2"/>
          </a:solidFill>
          <a:ln/>
        </p:spPr>
      </p:sp>
      <p:sp>
        <p:nvSpPr>
          <p:cNvPr id="27" name="Shape 25"/>
          <p:cNvSpPr/>
          <p:nvPr/>
        </p:nvSpPr>
        <p:spPr>
          <a:xfrm>
            <a:off x="2377440" y="4764024"/>
            <a:ext cx="3049991" cy="274320"/>
          </a:xfrm>
          <a:prstGeom prst="roundRect">
            <a:avLst>
              <a:gd name="adj" fmla="val 13333"/>
            </a:avLst>
          </a:prstGeom>
          <a:solidFill>
            <a:srgbClr val="5B666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4709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  (11,255)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team wins more often — this sets the baseline any model must beat.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BDS23114 Data Analytics  •  Predictive Modeling of FIFA World Cup Match Outcomes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documented and justified — not just applied.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EAF2E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842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Chronological order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converted to datetime, sorted ascending — required so every engineered feature uses only past information.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78308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EAF2EC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2011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19842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246888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exact duplicate fixture (same date, teams, score) identified and removed.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EAF2EC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977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9502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 kept, justified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4348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scorelines (e.g. 31–0) are real historical results, not errors — kept, but Elo/form features are robust to single blow-outs.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374904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EAF2EC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3977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39502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encoding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55080" y="44348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derived from goal difference (Win / Draw / Loss) plus a numeric Result_Code for correlation analysis.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BDS23114 Data Analytics  •  Predictive Modeling of FIFA World Cup Match Outcomes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who wins, and where</a:t>
            </a:r>
            <a:endParaRPr lang="en-US" sz="2800" dirty="0"/>
          </a:p>
        </p:txBody>
      </p:sp>
      <p:pic>
        <p:nvPicPr>
          <p:cNvPr id="3" name="Image 0" descr="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6400800" cy="4160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0" y="1234440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1B4332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0" y="13258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50.7%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543800" y="2011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win rate at own stadium, vs 44.2% at a neutral venue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315200" y="2926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total goals / match: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2.94 (median 3, SD 2.10)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0" y="352044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advantage is real, but modest — the first quantitative evidence that it shouldn't be overweighted in later modelling.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BDS23114 Data Analytics  •  Predictive Modeling of FIFA World Cup Match Outcomes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what correlates with the result</a:t>
            </a:r>
            <a:endParaRPr lang="en-US" sz="2800" dirty="0"/>
          </a:p>
        </p:txBody>
      </p:sp>
      <p:pic>
        <p:nvPicPr>
          <p:cNvPr id="3" name="Image 0" descr="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097280"/>
            <a:ext cx="5486400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35240" y="13716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EAF2EC"/>
          </a:solidFill>
          <a:ln/>
        </p:spPr>
      </p:sp>
      <p:sp>
        <p:nvSpPr>
          <p:cNvPr id="5" name="Text 2"/>
          <p:cNvSpPr/>
          <p:nvPr/>
        </p:nvSpPr>
        <p:spPr>
          <a:xfrm>
            <a:off x="786384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Elo_Diff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86384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with the result more strongly than any other engineered feature (r = 0.47) — the first sign that team strength will dominate the model.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635240" y="320040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feature selection: every engineered feature earns its place in the model by showing a real relationship with the outcome, not just intuition.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BDS23114 Data Analytics  •  Predictive Modeling of FIFA World Cup Match Outcomes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— turning outcomes into explanations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 only record what happened. These features capture each team's strength BEFORE kick-off — all computed chronologically and time-shifted to prevent data leakage.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AF2EC"/>
          </a:solidFill>
          <a:ln w="9525">
            <a:solidFill>
              <a:srgbClr val="DCE6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671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Elo rating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96596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skill score updated after every match, weighted by goal margin. The single clearest measure of relative strength.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CE6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2644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0632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form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30632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in average points, goals scored, and goals conceded over each team's previous 5 matches.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AF2EC"/>
          </a:solidFill>
          <a:ln w="9525">
            <a:solidFill>
              <a:srgbClr val="DCE6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3616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61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160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416052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team's historical win rate against this specific opponent, before the match.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166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CE6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4589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458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52578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advantage &amp; experience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525780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home team plays at its own stadium, and how many matches each side has played to date.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BDS23114 Data Analytics  •  Predictive Modeling of FIFA World Cup Match Outcomes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Chronological split — not random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291072" cy="502920"/>
          </a:xfrm>
          <a:prstGeom prst="roundRect">
            <a:avLst>
              <a:gd name="adj" fmla="val 9091"/>
            </a:avLst>
          </a:prstGeom>
          <a:solidFill>
            <a:srgbClr val="1B4332"/>
          </a:solidFill>
          <a:ln/>
        </p:spPr>
      </p:sp>
      <p:sp>
        <p:nvSpPr>
          <p:cNvPr id="5" name="Shape 3"/>
          <p:cNvSpPr/>
          <p:nvPr/>
        </p:nvSpPr>
        <p:spPr>
          <a:xfrm>
            <a:off x="6931152" y="1691640"/>
            <a:ext cx="1572768" cy="502920"/>
          </a:xfrm>
          <a:prstGeom prst="roundRect">
            <a:avLst>
              <a:gd name="adj" fmla="val 9091"/>
            </a:avLst>
          </a:prstGeom>
          <a:solidFill>
            <a:srgbClr val="C99A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first 80% of matches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68112" y="2240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most recent 20%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split would leak future matches into training and inflate the score — chronological order avoids this.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 compared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31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coefficients — shows direction of effect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37947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3931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43891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with GridSearchCV over time-series CV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37947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3931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43891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ensemble comparison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</a:rPr>
              <a:t>Baseline to beat: </a:t>
            </a:r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always predict the majority class (Win) — 47.6% accuracy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BDS23114 Data Analytics  •  Predictive Modeling of FIFA World Cup Match Outcomes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all three beat the baseline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6309360" cy="2103120"/>
        </p:xfrm>
        <a:graphic>
          <a:graphicData uri="http://schemas.openxmlformats.org/drawingml/2006/table">
            <a:tbl>
              <a:tblPr/>
              <a:tblGrid>
                <a:gridCol w="1261872"/>
                <a:gridCol w="1261872"/>
                <a:gridCol w="1261872"/>
                <a:gridCol w="1261872"/>
                <a:gridCol w="126187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(macro)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(predict Win)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42900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selected: ties Gradient Boosting on macro-F1, and directly exposes feature importances used to explain why teams win.</a:t>
            </a:r>
            <a:endParaRPr lang="en-US" sz="1150" dirty="0"/>
          </a:p>
        </p:txBody>
      </p:sp>
      <p:pic>
        <p:nvPicPr>
          <p:cNvPr id="5" name="Image 0" descr="media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97280"/>
            <a:ext cx="4251960" cy="3474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0" y="46177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Random Forest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BDS23114 Data Analytics  •  Predictive Modeling of FIFA World Cup Match Outcomes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honest about the model's weak spot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(0.596) looks solid — macro-F1 (0.446) tells the real story.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5120640" cy="173736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34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D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52044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A3402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36118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2651760" y="361188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recall — only ~35 of 2,297 actual draws correctly identified. A class-imbalance effect: predicting “not a draw” is the model's lower-risk strategy.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12648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Remedies for the next iteration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26480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10" name="Text 7"/>
          <p:cNvSpPr/>
          <p:nvPr/>
        </p:nvSpPr>
        <p:spPr>
          <a:xfrm>
            <a:off x="612648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720840" y="20574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4332"/>
                </a:solidFill>
              </a:rPr>
              <a:t>class_weight="balanced"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62B"/>
                </a:solidFill>
              </a:rPr>
              <a:t>penalise misclassifying draws more heavily — cheapest next step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26480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13" name="Text 10"/>
          <p:cNvSpPr/>
          <p:nvPr/>
        </p:nvSpPr>
        <p:spPr>
          <a:xfrm>
            <a:off x="6126480" y="2926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20840" y="29260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4332"/>
                </a:solidFill>
              </a:rPr>
              <a:t>Resampling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62B"/>
                </a:solidFill>
              </a:rPr>
              <a:t>SMOTE oversampling of draws, or undersampling Win/Loss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26480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16" name="Text 13"/>
          <p:cNvSpPr/>
          <p:nvPr/>
        </p:nvSpPr>
        <p:spPr>
          <a:xfrm>
            <a:off x="612648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720840" y="37947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4332"/>
                </a:solidFill>
              </a:rPr>
              <a:t>Ordinal reframing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62B"/>
                </a:solidFill>
              </a:rPr>
              <a:t>Loss &lt; Draw &lt; Win respects the natural ordering of outcomes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BDS23114 Data Analytics  •  Predictive Modeling of FIFA World Cup Match Outcomes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teams win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three ways: Random Forest importance, Logistic Regression direction, permutation importance — all agree.</a:t>
            </a:r>
            <a:endParaRPr lang="en-US" sz="1300" dirty="0"/>
          </a:p>
        </p:txBody>
      </p:sp>
      <p:pic>
        <p:nvPicPr>
          <p:cNvPr id="4" name="Image 0" descr="media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76072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434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feature importance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583680" y="1554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7804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 gap dominates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78040" y="18745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difference is overwhelmingly the top factor — football is largely a contest of accumulated quality.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83680" y="2697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7804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Defence beats attack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78040" y="30175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 recent goals-conceded average raises win probability more than a higher goals-scored average.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583680" y="3840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780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advantage: real, but small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178040" y="41605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EDA finding — easily outweighed by a large strength gap.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BDS23114 Data Analytics  •  Predictive Modeling of FIFA World Cup Match Outcomes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it: the 2022 World Cup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the trained model 2022 group-stage fixtures — which carry no scores — as a live end-to-end check.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6400800" cy="201168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  <a:gridCol w="16002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win prob.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Argentina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Arabia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win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Ecuador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Away win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win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Morocco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Croatia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win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37360"/>
            <a:ext cx="4251960" cy="3017520"/>
          </a:xfrm>
          <a:prstGeom prst="roundRect">
            <a:avLst>
              <a:gd name="adj" fmla="val 3030"/>
            </a:avLst>
          </a:prstGeom>
          <a:solidFill>
            <a:srgbClr val="EAF2EC"/>
          </a:solidFill>
          <a:ln/>
        </p:spPr>
      </p:sp>
      <p:sp>
        <p:nvSpPr>
          <p:cNvPr id="6" name="Text 3"/>
          <p:cNvSpPr/>
          <p:nvPr/>
        </p:nvSpPr>
        <p:spPr>
          <a:xfrm>
            <a:off x="7543800" y="19202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caveat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43800" y="233172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a continuously-updated snapshot through July 2026 — so each team's Elo reflects current strength, not their strength in November 2022.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543800" y="342900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demonstrates the pipeline runs end-to-end on unseen fixtures — it is not a true retrospective forecast. A faithful backtest (pre-2022 data only) is listed under future work.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BDS23114 Data Analytics  •  Predictive Modeling of FIFA World Cup Match Outcomes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a live, unplayed match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v Spain — 2026 World Cup semifinal, predicted 12 July, kick-off 14 July. Genuinely unknown when this number was generated.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rating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9476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 </a:t>
            </a:r>
            <a:pPr indent="0" marL="0"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2087.0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00400" y="1947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 </a:t>
            </a:r>
            <a:pPr indent="0" marL="0"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2127.9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40487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 results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6609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 </a:t>
            </a:r>
            <a:pPr indent="0" marL="0"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W W W 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0" y="266090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 </a:t>
            </a:r>
            <a:pPr indent="0" marL="0"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D W W W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1181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(38 meetings)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3741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 </a:t>
            </a:r>
            <a:pPr indent="0" marL="0"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wins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0" y="337413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 </a:t>
            </a:r>
            <a:pPr indent="0" marL="0"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wins · 7 draws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87705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output (draw redistributed into an advancement estimate)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2885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advances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0" y="4343400"/>
            <a:ext cx="3017520" cy="219456"/>
          </a:xfrm>
          <a:prstGeom prst="roundRect">
            <a:avLst>
              <a:gd name="adj" fmla="val 16667"/>
            </a:avLst>
          </a:prstGeom>
          <a:solidFill>
            <a:srgbClr val="E7E7E2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0" y="4343400"/>
            <a:ext cx="1336761" cy="219456"/>
          </a:xfrm>
          <a:prstGeom prst="roundRect">
            <a:avLst>
              <a:gd name="adj" fmla="val 16667"/>
            </a:avLst>
          </a:prstGeom>
          <a:solidFill>
            <a:srgbClr val="C99A2E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428853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7000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advances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0" y="4754880"/>
            <a:ext cx="3017520" cy="219456"/>
          </a:xfrm>
          <a:prstGeom prst="roundRect">
            <a:avLst>
              <a:gd name="adj" fmla="val 16667"/>
            </a:avLst>
          </a:prstGeom>
          <a:solidFill>
            <a:srgbClr val="E7E7E2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0" y="4754880"/>
            <a:ext cx="1680759" cy="219456"/>
          </a:xfrm>
          <a:prstGeom prst="roundRect">
            <a:avLst>
              <a:gd name="adj" fmla="val 16667"/>
            </a:avLst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4700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55.7%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1691640"/>
            <a:ext cx="4251960" cy="1874520"/>
          </a:xfrm>
          <a:prstGeom prst="roundRect">
            <a:avLst>
              <a:gd name="adj" fmla="val 4878"/>
            </a:avLst>
          </a:prstGeom>
          <a:solidFill>
            <a:srgbClr val="1B4332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18288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fixes Section 12's problem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543800" y="228600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2022 example used 2026-dated Elo to “predict” a 2022 match — the model already knew the future. This prediction was made before its match was played: nothing about the outcome existed yet.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0" y="3703320"/>
            <a:ext cx="4251960" cy="1600200"/>
          </a:xfrm>
          <a:prstGeom prst="roundRect">
            <a:avLst>
              <a:gd name="adj" fmla="val 5714"/>
            </a:avLst>
          </a:prstGeom>
          <a:solidFill>
            <a:srgbClr val="EAF2EC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38404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an honest caveat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43800" y="4187952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snapshot is dated 2 July — it doesn't yet include the Round of 16 / Quarter-final results (4–11 July). The prediction is slightly stale, not leaked — the opposite failure mode, and one that self-corrects on refresh.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BDS23114 Data Analytics  •  Predictive Modeling of FIFA World Cup Match Outcomes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EAF2EC"/>
          </a:solidFill>
          <a:ln w="9525">
            <a:solidFill>
              <a:srgbClr val="DCE6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288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536192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Analysts &amp; pundits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37760" y="1536192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teams by a properly-updated Elo rating before a tournament — it captures most of what predicts results, far simpler than tracking dozens of stats.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6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383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3090672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management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3090672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defensive consistency. Reducing goals conceded yields a larger win-probability gain than increasing goals scored.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EAF2EC"/>
          </a:solidFill>
          <a:ln w="9525">
            <a:solidFill>
              <a:srgbClr val="DCE6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937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645152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Organisers &amp; hosts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4645152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over-rely on host-nation advantage. It's genuine but modest, and won't overturn a large strength gap.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BDS23114 Data Analytics  •  Predictive Modeling of FIFA World Cup Match Outcomes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47088"/>
            <a:ext cx="82296" cy="82296"/>
          </a:xfrm>
          <a:prstGeom prst="ellipse">
            <a:avLst/>
          </a:prstGeom>
          <a:solidFill>
            <a:srgbClr val="A3402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37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are hard to predict — a known challenge in football modelling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505456"/>
            <a:ext cx="82296" cy="82296"/>
          </a:xfrm>
          <a:prstGeom prst="ellipse">
            <a:avLst/>
          </a:prstGeom>
          <a:solidFill>
            <a:srgbClr val="A3402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3957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squad-level data — injuries, line-ups, red cards are absent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63824"/>
            <a:ext cx="82296" cy="82296"/>
          </a:xfrm>
          <a:prstGeom prst="ellipse">
            <a:avLst/>
          </a:prstGeom>
          <a:solidFill>
            <a:srgbClr val="A3402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305409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cold start — newer national teams begin mis-rated at 1500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1234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09360" y="1847088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17373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Player-level features (FIFA ratings, market values, injury/suspension news) - the clearest remaining gap, since match importance and rest days are already tested and added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2715768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37960" y="26060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Class-imbalance handling for draws + ordinal target reframing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3584448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37960" y="34747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faithful 2022 backtest using only pre-November-2022 data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4453128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37960" y="43434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dashboard with per-match feature contributions — built as this project's bonus feature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BDS23114 Data Analytics  •  Predictive Modeling of FIFA World Cup Match Outcomes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Now, let's see it live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same Elo + form pipeline as the notebook, containerised with Docker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99A2E"/>
                </a:solidFill>
              </a:rPr>
              <a:t>Lopsided match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DE7"/>
                </a:solidFill>
              </a:rPr>
              <a:t>Brazil vs Qatar — high home win probability, read live from the app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5420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42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5420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99A2E"/>
                </a:solidFill>
              </a:rPr>
              <a:t>The “Why” panel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DE7"/>
                </a:solidFill>
              </a:rPr>
              <a:t>Elo gap, recent form, and home advantage laid out as the reasoning behind the prediction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2552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55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255264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99A2E"/>
                </a:solidFill>
              </a:rPr>
              <a:t>The headline moment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DE7"/>
                </a:solidFill>
              </a:rPr>
              <a:t>France vs Spain, home venue OFF — the same live semifinal call from Slide 13, made before it was played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9684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968496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99A2E"/>
                </a:solidFill>
              </a:rPr>
              <a:t>A close match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DE7"/>
                </a:solidFill>
              </a:rPr>
              <a:t>Argentina vs France — probabilities tighten up; the model is appropriately less certain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6817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81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68172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99A2E"/>
                </a:solidFill>
              </a:rPr>
              <a:t>Feature importance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DE7"/>
                </a:solidFill>
              </a:rPr>
              <a:t>Across 39,000+ training matches, strength gap dominates, then form and defence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BDS23114 Data Analytics  •  Predictive Modeling of FIFA World Cup Match Outcomes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BDS23114 Data Analytics  •  Predictive Modeling of FIFA World Cup Match Outcomes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B433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2743200" cy="0"/>
          </a:xfrm>
          <a:prstGeom prst="line">
            <a:avLst/>
          </a:prstGeom>
          <a:noFill/>
          <a:ln w="19050">
            <a:solidFill>
              <a:srgbClr val="C99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434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AD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International Football Results (martj42)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AD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— notebook, dashboard, Docker setup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2026-07-12T04:04:23Z</dcterms:created>
  <dcterms:modified xsi:type="dcterms:W3CDTF">2026-07-12T04:04:23Z</dcterms:modified>
</cp:coreProperties>
</file>