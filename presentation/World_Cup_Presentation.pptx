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02A20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B4332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011680" y="4206240"/>
            <a:ext cx="4754880" cy="4754880"/>
          </a:xfrm>
          <a:prstGeom prst="ellipse">
            <a:avLst/>
          </a:prstGeom>
          <a:solidFill>
            <a:srgbClr val="1B4332">
              <a:alpha val="4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417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spc="200" kern="0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PROJECT  —  BDS23114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" y="1828800"/>
            <a:ext cx="98755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Modeling of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FIFA World Cup Match Outcomes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822960" y="37033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machine learning approach to predicting — and explaining — why one team beats another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4617720"/>
            <a:ext cx="2743200" cy="0"/>
          </a:xfrm>
          <a:prstGeom prst="line">
            <a:avLst/>
          </a:prstGeom>
          <a:noFill/>
          <a:ln w="19050">
            <a:solidFill>
              <a:srgbClr val="C99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484632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Lee Wen Xin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AD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ID: BIT-B2201F-2505004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AD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Lecturer: Dr. Ng Choon Ching   •   May 2026 Semester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Football looks random on the surface — but across thousands of matches, clear patterns emerge.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074920" cy="1371600"/>
          </a:xfrm>
          <a:prstGeom prst="roundRect">
            <a:avLst>
              <a:gd name="adj" fmla="val 6667"/>
            </a:avLst>
          </a:prstGeom>
          <a:solidFill>
            <a:srgbClr val="EAF2E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19385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63040" y="2331720"/>
            <a:ext cx="3977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outcome of a match — Win, Draw, or Loss — from the home team's perspective.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989320" y="1783080"/>
            <a:ext cx="5074920" cy="1371600"/>
          </a:xfrm>
          <a:prstGeom prst="roundRect">
            <a:avLst>
              <a:gd name="adj" fmla="val 6667"/>
            </a:avLst>
          </a:prstGeom>
          <a:solidFill>
            <a:srgbClr val="EAF2EC"/>
          </a:solidFill>
          <a:ln/>
        </p:spPr>
      </p:sp>
      <p:sp>
        <p:nvSpPr>
          <p:cNvPr id="10" name="Shape 8"/>
          <p:cNvSpPr/>
          <p:nvPr/>
        </p:nvSpPr>
        <p:spPr>
          <a:xfrm>
            <a:off x="6263640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12280" y="1938528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812280" y="2331720"/>
            <a:ext cx="3977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one team beats another, using interpretable pre-match strength indicators.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34290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Research questions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9319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393192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match outcomes be predicted more accurately than a naive baseline?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6177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6177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234440" y="461772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factors explain a win, and how much does each contribute?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5303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530352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234440" y="530352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these factors generalise to World Cup matches, including the 2022 tournament?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dataset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Football Results, 1872–2026 — Kaggle (martj42), continuously-updated snapshot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EAF2EC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10512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49,490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2468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69164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EAF2EC"/>
          </a:solidFill>
          <a:ln/>
        </p:spPr>
      </p:sp>
      <p:sp>
        <p:nvSpPr>
          <p:cNvPr id="8" name="Text 6"/>
          <p:cNvSpPr/>
          <p:nvPr/>
        </p:nvSpPr>
        <p:spPr>
          <a:xfrm>
            <a:off x="3337560" y="1810512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337560" y="2468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columns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35040" y="169164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EAF2EC"/>
          </a:solidFill>
          <a:ln/>
        </p:spPr>
      </p:sp>
      <p:sp>
        <p:nvSpPr>
          <p:cNvPr id="11" name="Text 9"/>
          <p:cNvSpPr/>
          <p:nvPr/>
        </p:nvSpPr>
        <p:spPr>
          <a:xfrm>
            <a:off x="6035040" y="1810512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154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6035040" y="2468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history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32520" y="169164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EAF2EC"/>
          </a:solidFill>
          <a:ln/>
        </p:spPr>
      </p:sp>
      <p:sp>
        <p:nvSpPr>
          <p:cNvPr id="14" name="Text 12"/>
          <p:cNvSpPr/>
          <p:nvPr/>
        </p:nvSpPr>
        <p:spPr>
          <a:xfrm>
            <a:off x="8732520" y="1810512"/>
            <a:ext cx="2514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732520" y="246888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supporting files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200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 balance (home team's perspective)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370332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win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377440" y="3758184"/>
            <a:ext cx="6583680" cy="274320"/>
          </a:xfrm>
          <a:prstGeom prst="roundRect">
            <a:avLst>
              <a:gd name="adj" fmla="val 13333"/>
            </a:avLst>
          </a:prstGeom>
          <a:solidFill>
            <a:srgbClr val="E7E7E2"/>
          </a:solidFill>
          <a:ln/>
        </p:spPr>
      </p:sp>
      <p:sp>
        <p:nvSpPr>
          <p:cNvPr id="19" name="Shape 17"/>
          <p:cNvSpPr/>
          <p:nvPr/>
        </p:nvSpPr>
        <p:spPr>
          <a:xfrm>
            <a:off x="2377440" y="3758184"/>
            <a:ext cx="6583680" cy="274320"/>
          </a:xfrm>
          <a:prstGeom prst="roundRect">
            <a:avLst>
              <a:gd name="adj" fmla="val 13333"/>
            </a:avLst>
          </a:prstGeom>
          <a:solidFill>
            <a:srgbClr val="1B4332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0" y="370332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49.0%  (24,253)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20624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win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377440" y="4261104"/>
            <a:ext cx="6583680" cy="274320"/>
          </a:xfrm>
          <a:prstGeom prst="roundRect">
            <a:avLst>
              <a:gd name="adj" fmla="val 13333"/>
            </a:avLst>
          </a:prstGeom>
          <a:solidFill>
            <a:srgbClr val="E7E7E2"/>
          </a:solidFill>
          <a:ln/>
        </p:spPr>
      </p:sp>
      <p:sp>
        <p:nvSpPr>
          <p:cNvPr id="23" name="Shape 21"/>
          <p:cNvSpPr/>
          <p:nvPr/>
        </p:nvSpPr>
        <p:spPr>
          <a:xfrm>
            <a:off x="2377440" y="4261104"/>
            <a:ext cx="3802411" cy="274320"/>
          </a:xfrm>
          <a:prstGeom prst="roundRect">
            <a:avLst>
              <a:gd name="adj" fmla="val 13333"/>
            </a:avLst>
          </a:prstGeom>
          <a:solidFill>
            <a:srgbClr val="C99A2E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0" y="420624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28.3%  (13,981)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4709160"/>
            <a:ext cx="1737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377440" y="4764024"/>
            <a:ext cx="6583680" cy="274320"/>
          </a:xfrm>
          <a:prstGeom prst="roundRect">
            <a:avLst>
              <a:gd name="adj" fmla="val 13333"/>
            </a:avLst>
          </a:prstGeom>
          <a:solidFill>
            <a:srgbClr val="E7E7E2"/>
          </a:solidFill>
          <a:ln/>
        </p:spPr>
      </p:sp>
      <p:sp>
        <p:nvSpPr>
          <p:cNvPr id="27" name="Shape 25"/>
          <p:cNvSpPr/>
          <p:nvPr/>
        </p:nvSpPr>
        <p:spPr>
          <a:xfrm>
            <a:off x="2377440" y="4764024"/>
            <a:ext cx="3049991" cy="274320"/>
          </a:xfrm>
          <a:prstGeom prst="roundRect">
            <a:avLst>
              <a:gd name="adj" fmla="val 13333"/>
            </a:avLst>
          </a:prstGeom>
          <a:solidFill>
            <a:srgbClr val="5B6660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0" y="47091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22.7%  (11,255)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5394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 team wins more often — this sets the baseline any model must beat.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cleaning &amp; preparation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step documented and justified — not just applied.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EAF2EC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198424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Chronological order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converted to datetime, sorted ascending — required so every engineered feature uses only past information.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035040" y="178308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EAF2EC"/>
          </a:solidFill>
          <a:ln/>
        </p:spPr>
      </p:sp>
      <p:sp>
        <p:nvSpPr>
          <p:cNvPr id="10" name="Shape 8"/>
          <p:cNvSpPr/>
          <p:nvPr/>
        </p:nvSpPr>
        <p:spPr>
          <a:xfrm>
            <a:off x="6263640" y="20116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20116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12280" y="198424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Duplicates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355080" y="2468880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exact duplicate fixture (same date, teams, score) identified and removed.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74904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EAF2EC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977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977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17320" y="395020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 kept, justified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960120" y="4434840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scorelines (e.g. 31–0) are real historical results, not errors — kept, but Elo/form features are robust to single blow-outs.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035040" y="3749040"/>
            <a:ext cx="5120640" cy="1737360"/>
          </a:xfrm>
          <a:prstGeom prst="roundRect">
            <a:avLst>
              <a:gd name="adj" fmla="val 5263"/>
            </a:avLst>
          </a:prstGeom>
          <a:solidFill>
            <a:srgbClr val="EAF2EC"/>
          </a:solidFill>
          <a:ln/>
        </p:spPr>
      </p:sp>
      <p:sp>
        <p:nvSpPr>
          <p:cNvPr id="20" name="Shape 18"/>
          <p:cNvSpPr/>
          <p:nvPr/>
        </p:nvSpPr>
        <p:spPr>
          <a:xfrm>
            <a:off x="6263640" y="3977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21" name="Text 19"/>
          <p:cNvSpPr/>
          <p:nvPr/>
        </p:nvSpPr>
        <p:spPr>
          <a:xfrm>
            <a:off x="6263640" y="397764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812280" y="395020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 encoding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55080" y="4434840"/>
            <a:ext cx="45720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derived from goal difference (Win / Draw / Loss) plus a numeric Result_Code for correlation analysis.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who wins, and where</a:t>
            </a:r>
            <a:endParaRPr lang="en-US" sz="2800" dirty="0"/>
          </a:p>
        </p:txBody>
      </p:sp>
      <p:pic>
        <p:nvPicPr>
          <p:cNvPr id="3" name="Image 0" descr="media/image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143000"/>
            <a:ext cx="6400800" cy="41605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315200" y="1234440"/>
            <a:ext cx="4206240" cy="1417320"/>
          </a:xfrm>
          <a:prstGeom prst="roundRect">
            <a:avLst>
              <a:gd name="adj" fmla="val 6452"/>
            </a:avLst>
          </a:prstGeom>
          <a:solidFill>
            <a:srgbClr val="1B4332"/>
          </a:solidFill>
          <a:ln/>
        </p:spPr>
      </p:sp>
      <p:sp>
        <p:nvSpPr>
          <p:cNvPr id="5" name="Text 2"/>
          <p:cNvSpPr/>
          <p:nvPr/>
        </p:nvSpPr>
        <p:spPr>
          <a:xfrm>
            <a:off x="7315200" y="1325880"/>
            <a:ext cx="42062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9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50.7%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7543800" y="201168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win rate at own stadium, vs 44.2% at a neutral venue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315200" y="292608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total goals / match: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2.94 (median 3, SD 2.10)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0" y="3520440"/>
            <a:ext cx="4206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advantage is real, but modest — the first quantitative evidence that it shouldn't be overweighted in later modelling.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 — what correlates with the result</a:t>
            </a:r>
            <a:endParaRPr lang="en-US" sz="2800" dirty="0"/>
          </a:p>
        </p:txBody>
      </p:sp>
      <p:pic>
        <p:nvPicPr>
          <p:cNvPr id="3" name="Image 0" descr="media/ima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5960" y="1097280"/>
            <a:ext cx="5486400" cy="48463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7635240" y="1371600"/>
            <a:ext cx="3931920" cy="1554480"/>
          </a:xfrm>
          <a:prstGeom prst="roundRect">
            <a:avLst>
              <a:gd name="adj" fmla="val 5882"/>
            </a:avLst>
          </a:prstGeom>
          <a:solidFill>
            <a:srgbClr val="EAF2EC"/>
          </a:solidFill>
          <a:ln/>
        </p:spPr>
      </p:sp>
      <p:sp>
        <p:nvSpPr>
          <p:cNvPr id="5" name="Text 2"/>
          <p:cNvSpPr/>
          <p:nvPr/>
        </p:nvSpPr>
        <p:spPr>
          <a:xfrm>
            <a:off x="7863840" y="150876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Elo_Diff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7863840" y="19202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correlates with the result more strongly than any other engineered feature (r = 0.47) — the first sign that team strength will dominate the model.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635240" y="3200400"/>
            <a:ext cx="3931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 feature selection: every engineered feature earns its place in the model by showing a real relationship with the outcome, not just intuition.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engineering — turning outcomes into explanations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columns only record what happened. These features capture each team's strength BEFORE kick-off — all computed chronologically and time-shifted to prevent data leakage.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AF2EC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216712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671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196596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Elo rating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54880" y="1965960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running skill score updated after every match, weighted by goal margin. The single clearest measure of relative strength.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97180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68680" y="326440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1" name="Text 9"/>
          <p:cNvSpPr/>
          <p:nvPr/>
        </p:nvSpPr>
        <p:spPr>
          <a:xfrm>
            <a:off x="868680" y="32644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306324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Recent form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3063240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in average points, goals scored, and goals conceded over each team's previous 5 matches.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06908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EAF2EC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8680" y="436168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36168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416052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Head-to-head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754880" y="4160520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 team's historical win rate against this specific opponent, before the match.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545896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545896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463040" y="5257800"/>
            <a:ext cx="3200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 advantage &amp; experience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54880" y="5257800"/>
            <a:ext cx="65836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home team plays at its own stadium, and how many matches each side has played to date.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Modelling approach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Chronological split — not random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6291072" cy="502920"/>
          </a:xfrm>
          <a:prstGeom prst="roundRect">
            <a:avLst>
              <a:gd name="adj" fmla="val 9091"/>
            </a:avLst>
          </a:prstGeom>
          <a:solidFill>
            <a:srgbClr val="1B4332"/>
          </a:solidFill>
          <a:ln/>
        </p:spPr>
      </p:sp>
      <p:sp>
        <p:nvSpPr>
          <p:cNvPr id="5" name="Shape 3"/>
          <p:cNvSpPr/>
          <p:nvPr/>
        </p:nvSpPr>
        <p:spPr>
          <a:xfrm>
            <a:off x="6931152" y="1691640"/>
            <a:ext cx="1572768" cy="502920"/>
          </a:xfrm>
          <a:prstGeom prst="roundRect">
            <a:avLst>
              <a:gd name="adj" fmla="val 9091"/>
            </a:avLst>
          </a:prstGeom>
          <a:solidFill>
            <a:srgbClr val="C99A2E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691640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— first 80% of matches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68112" y="22402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— most recent 20%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" y="26974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random split would leak future matches into training and inflate the score — chronological order avoids this.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33375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models compared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379476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AF2EC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9319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Logistic Regression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" y="43891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coefficients — shows direction of effect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51960" y="379476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AF2EC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39319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Random Forest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34840" y="43891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Tuned with GridSearchCV over time-series CV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7863840" y="379476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EAF2EC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0" y="3931920"/>
            <a:ext cx="3063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Gradient Boosting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046720" y="4389120"/>
            <a:ext cx="3063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ensemble comparison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5394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60"/>
                </a:solidFill>
              </a:rPr>
              <a:t>Baseline to beat: </a:t>
            </a:r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</a:rPr>
              <a:t>always predict the majority class (Win) — 47.6% accuracy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— all three beat the baseline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88720"/>
          <a:ext cx="6309360" cy="2103120"/>
        </p:xfrm>
        <a:graphic>
          <a:graphicData uri="http://schemas.openxmlformats.org/drawingml/2006/table">
            <a:tbl>
              <a:tblPr/>
              <a:tblGrid>
                <a:gridCol w="1261872"/>
                <a:gridCol w="1261872"/>
                <a:gridCol w="1261872"/>
                <a:gridCol w="1261872"/>
                <a:gridCol w="1261872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(macro)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(predict Win)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2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640080" y="3429000"/>
            <a:ext cx="6309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selected: ties Gradient Boosting on macro-F1, and directly exposes feature importances used to explain why teams win.</a:t>
            </a:r>
            <a:endParaRPr lang="en-US" sz="1150" dirty="0"/>
          </a:p>
        </p:txBody>
      </p:sp>
      <p:pic>
        <p:nvPicPr>
          <p:cNvPr id="5" name="Image 0" descr="media/image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097280"/>
            <a:ext cx="4251960" cy="347472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315200" y="4617720"/>
            <a:ext cx="4251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 — Random Forest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Being honest about the model's weak spot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(0.596) looks solid — macro-F1 (0.446) tells the real story.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5120640" cy="173736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A340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4D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3520440"/>
            <a:ext cx="5120640" cy="1417320"/>
          </a:xfrm>
          <a:prstGeom prst="roundRect">
            <a:avLst>
              <a:gd name="adj" fmla="val 6452"/>
            </a:avLst>
          </a:prstGeom>
          <a:solidFill>
            <a:srgbClr val="A3402C"/>
          </a:solidFill>
          <a:ln/>
        </p:spPr>
      </p:sp>
      <p:sp>
        <p:nvSpPr>
          <p:cNvPr id="6" name="Text 3"/>
          <p:cNvSpPr/>
          <p:nvPr/>
        </p:nvSpPr>
        <p:spPr>
          <a:xfrm>
            <a:off x="822960" y="361188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2%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2651760" y="3611880"/>
            <a:ext cx="2971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recall — only ~35 of 2,297 actual draws correctly identified. A class-imbalance effect: predicting “not a draw” is the model's lower-risk strategy.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6126480" y="1600200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Remedies for the next iteration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126480" y="2057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20574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720840" y="205740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4332"/>
                </a:solidFill>
              </a:rPr>
              <a:t>class_weight="balanced"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</a:rPr>
              <a:t>penalise misclassifying draws more heavily — cheapest next step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126480" y="29260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0" y="29260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720840" y="292608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4332"/>
                </a:solidFill>
              </a:rPr>
              <a:t>Resampling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</a:rPr>
              <a:t>SMOTE oversampling of draws, or undersampling Win/Loss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26480" y="3794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6" name="Text 13"/>
          <p:cNvSpPr/>
          <p:nvPr/>
        </p:nvSpPr>
        <p:spPr>
          <a:xfrm>
            <a:off x="6126480" y="3794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6720840" y="3794760"/>
            <a:ext cx="48463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4332"/>
                </a:solidFill>
              </a:rPr>
              <a:t>Ordinal reframing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</a:rPr>
              <a:t>Loss &lt; Draw &lt; Win respects the natural ordering of outcomes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teams win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0584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Answered three ways: Random Forest importance, Logistic Regression direction, permutation importance — all agree.</a:t>
            </a:r>
            <a:endParaRPr lang="en-US" sz="1300" dirty="0"/>
          </a:p>
        </p:txBody>
      </p:sp>
      <p:pic>
        <p:nvPicPr>
          <p:cNvPr id="4" name="Image 0" descr="media/image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08760"/>
            <a:ext cx="576072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343400"/>
            <a:ext cx="5760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feature importance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6583680" y="15544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0" y="15544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17804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 gap dominates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178040" y="18745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 difference is overwhelmingly the top factor — football is largely a contest of accumulated quality.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583680" y="26974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1" name="Text 8"/>
          <p:cNvSpPr/>
          <p:nvPr/>
        </p:nvSpPr>
        <p:spPr>
          <a:xfrm>
            <a:off x="6583680" y="26974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7178040" y="2651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Defence beats attack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178040" y="30175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lower recent goals-conceded average raises win probability more than a higher goals-scored average.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583680" y="38404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5" name="Text 12"/>
          <p:cNvSpPr/>
          <p:nvPr/>
        </p:nvSpPr>
        <p:spPr>
          <a:xfrm>
            <a:off x="6583680" y="38404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178040" y="3794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 advantage: real, but small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7178040" y="416052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the EDA finding — easily outweighed by a large strength gap.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Applying it: the 2022 World Cup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Feeding the trained model 2022 group-stage fixtures — which carry no scores — as a live end-to-end check.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6400800" cy="2011680"/>
        </p:xfrm>
        <a:graphic>
          <a:graphicData uri="http://schemas.openxmlformats.org/drawingml/2006/table">
            <a:tbl>
              <a:tblPr/>
              <a:tblGrid>
                <a:gridCol w="1600200"/>
                <a:gridCol w="1600200"/>
                <a:gridCol w="1600200"/>
                <a:gridCol w="16002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win prob.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433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Argentina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Saudi Arabia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win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Qatar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Ecuador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Away win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win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Morocco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Croatia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win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3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6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315200" y="1737360"/>
            <a:ext cx="4251960" cy="3017520"/>
          </a:xfrm>
          <a:prstGeom prst="roundRect">
            <a:avLst>
              <a:gd name="adj" fmla="val 3030"/>
            </a:avLst>
          </a:prstGeom>
          <a:solidFill>
            <a:srgbClr val="EAF2EC"/>
          </a:solidFill>
          <a:ln/>
        </p:spPr>
      </p:sp>
      <p:sp>
        <p:nvSpPr>
          <p:cNvPr id="6" name="Text 3"/>
          <p:cNvSpPr/>
          <p:nvPr/>
        </p:nvSpPr>
        <p:spPr>
          <a:xfrm>
            <a:off x="7543800" y="19202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honest caveat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543800" y="2331720"/>
            <a:ext cx="3794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is a continuously-updated snapshot through July 2026 — so each team's Elo reflects current strength, not their strength in November 2022.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7543800" y="3429000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i="1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demonstrates the pipeline runs end-to-end on unseen fixtures — it is not a true retrospective forecast. A faithful backtest (pre-2022 data only) is listed under future work.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fix: a live, unplayed match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640080" y="10515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v Spain — 2026 World Cup semifinal, predicted 12 July, kick-off 14 July. Genuinely unknown when this number was generated.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 rating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640080" y="194767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 </a:t>
            </a:r>
            <a:pPr indent="0" marL="0"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2087.0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3200400" y="194767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 </a:t>
            </a:r>
            <a:pPr indent="0" marL="0"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2127.9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240487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5 results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2660904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 </a:t>
            </a:r>
            <a:pPr indent="0" marL="0"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W W W W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200400" y="2660904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 </a:t>
            </a:r>
            <a:pPr indent="0" marL="0"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 D W W W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311810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4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Head-to-head (38 meetings)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3374136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 </a:t>
            </a:r>
            <a:pPr indent="0" marL="0"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wins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200400" y="3374136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 </a:t>
            </a:r>
            <a:pPr indent="0" marL="0">
              <a:buNone/>
            </a:pPr>
            <a:r>
              <a:rPr lang="en-US" sz="11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wins · 7 draws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640080" y="3877056"/>
            <a:ext cx="5212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output (draw redistributed into an advancement estimate)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4288536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 advances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743200" y="4343400"/>
            <a:ext cx="3017520" cy="219456"/>
          </a:xfrm>
          <a:prstGeom prst="roundRect">
            <a:avLst>
              <a:gd name="adj" fmla="val 16667"/>
            </a:avLst>
          </a:prstGeom>
          <a:solidFill>
            <a:srgbClr val="E7E7E2"/>
          </a:solidFill>
          <a:ln/>
        </p:spPr>
      </p:sp>
      <p:sp>
        <p:nvSpPr>
          <p:cNvPr id="16" name="Shape 14"/>
          <p:cNvSpPr/>
          <p:nvPr/>
        </p:nvSpPr>
        <p:spPr>
          <a:xfrm>
            <a:off x="2743200" y="4343400"/>
            <a:ext cx="1336761" cy="219456"/>
          </a:xfrm>
          <a:prstGeom prst="roundRect">
            <a:avLst>
              <a:gd name="adj" fmla="val 16667"/>
            </a:avLst>
          </a:prstGeom>
          <a:solidFill>
            <a:srgbClr val="C99A2E"/>
          </a:solidFill>
          <a:ln/>
        </p:spPr>
      </p:sp>
      <p:sp>
        <p:nvSpPr>
          <p:cNvPr id="17" name="Text 15"/>
          <p:cNvSpPr/>
          <p:nvPr/>
        </p:nvSpPr>
        <p:spPr>
          <a:xfrm>
            <a:off x="5852160" y="428853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44.3%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4700016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advances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0" y="4754880"/>
            <a:ext cx="3017520" cy="219456"/>
          </a:xfrm>
          <a:prstGeom prst="roundRect">
            <a:avLst>
              <a:gd name="adj" fmla="val 16667"/>
            </a:avLst>
          </a:prstGeom>
          <a:solidFill>
            <a:srgbClr val="E7E7E2"/>
          </a:solidFill>
          <a:ln/>
        </p:spPr>
      </p:sp>
      <p:sp>
        <p:nvSpPr>
          <p:cNvPr id="20" name="Shape 18"/>
          <p:cNvSpPr/>
          <p:nvPr/>
        </p:nvSpPr>
        <p:spPr>
          <a:xfrm>
            <a:off x="2743200" y="4754880"/>
            <a:ext cx="1680759" cy="219456"/>
          </a:xfrm>
          <a:prstGeom prst="roundRect">
            <a:avLst>
              <a:gd name="adj" fmla="val 16667"/>
            </a:avLst>
          </a:prstGeom>
          <a:solidFill>
            <a:srgbClr val="1B4332"/>
          </a:solidFill>
          <a:ln/>
        </p:spPr>
      </p:sp>
      <p:sp>
        <p:nvSpPr>
          <p:cNvPr id="21" name="Text 19"/>
          <p:cNvSpPr/>
          <p:nvPr/>
        </p:nvSpPr>
        <p:spPr>
          <a:xfrm>
            <a:off x="5852160" y="470001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55.7%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315200" y="1691640"/>
            <a:ext cx="4251960" cy="1874520"/>
          </a:xfrm>
          <a:prstGeom prst="roundRect">
            <a:avLst>
              <a:gd name="adj" fmla="val 4878"/>
            </a:avLst>
          </a:prstGeom>
          <a:solidFill>
            <a:srgbClr val="1B4332"/>
          </a:solidFill>
          <a:ln/>
        </p:spPr>
      </p:sp>
      <p:sp>
        <p:nvSpPr>
          <p:cNvPr id="23" name="Text 21"/>
          <p:cNvSpPr/>
          <p:nvPr/>
        </p:nvSpPr>
        <p:spPr>
          <a:xfrm>
            <a:off x="7543800" y="1828800"/>
            <a:ext cx="3794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9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fixes Section 12's problem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7543800" y="2286000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2022 example used 2026-dated Elo to “predict” a 2022 match — the model already knew the future. This prediction was made before its match was played: nothing about the outcome existed yet.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0" y="3703320"/>
            <a:ext cx="4251960" cy="1600200"/>
          </a:xfrm>
          <a:prstGeom prst="roundRect">
            <a:avLst>
              <a:gd name="adj" fmla="val 5714"/>
            </a:avLst>
          </a:prstGeom>
          <a:solidFill>
            <a:srgbClr val="EAF2EC"/>
          </a:solidFill>
          <a:ln/>
        </p:spPr>
      </p:sp>
      <p:sp>
        <p:nvSpPr>
          <p:cNvPr id="26" name="Text 24"/>
          <p:cNvSpPr/>
          <p:nvPr/>
        </p:nvSpPr>
        <p:spPr>
          <a:xfrm>
            <a:off x="7543800" y="3840480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Still an honest caveat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543800" y="4187952"/>
            <a:ext cx="37947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i="1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 snapshot is dated 2 July — it doesn't yet include the Round of 16 / Quarter-final results (4–11 July). The prediction is slightly stale, not leaked — the opposite failure mode, and one that self-corrects on refresh.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Insights &amp; recommendations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AF2EC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8288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828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54480" y="1536192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Analysts &amp; pundits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937760" y="1536192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teams by a properly-updated Elo rating before a tournament — it captures most of what predicts results, far simpler than tracking dozens of stats.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38328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338328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554480" y="3090672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management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937760" y="3090672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 defensive consistency. Reducing goals conceded yields a larger win-probability gain than increasing goals scored.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48056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EAF2EC"/>
          </a:solidFill>
          <a:ln w="9525">
            <a:solidFill>
              <a:srgbClr val="DCE6D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93776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9377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554480" y="4645152"/>
            <a:ext cx="329184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Organisers &amp; hosts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937760" y="4645152"/>
            <a:ext cx="63093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over-rely on host-nation advantage. It's genuine but modest, and won't overturn a large strength gap.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&amp;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1847088"/>
            <a:ext cx="82296" cy="82296"/>
          </a:xfrm>
          <a:prstGeom prst="ellipse">
            <a:avLst/>
          </a:prstGeom>
          <a:solidFill>
            <a:srgbClr val="A3402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73736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Draws are hard to predict — a known challenge in football modelling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505456"/>
            <a:ext cx="82296" cy="82296"/>
          </a:xfrm>
          <a:prstGeom prst="ellipse">
            <a:avLst/>
          </a:prstGeom>
          <a:solidFill>
            <a:srgbClr val="A3402C"/>
          </a:solidFill>
          <a:ln/>
        </p:spPr>
      </p:sp>
      <p:sp>
        <p:nvSpPr>
          <p:cNvPr id="7" name="Text 5"/>
          <p:cNvSpPr/>
          <p:nvPr/>
        </p:nvSpPr>
        <p:spPr>
          <a:xfrm>
            <a:off x="868680" y="2395728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squad-level data — injuries, line-ups, red cards are absent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0080" y="3163824"/>
            <a:ext cx="82296" cy="82296"/>
          </a:xfrm>
          <a:prstGeom prst="ellipse">
            <a:avLst/>
          </a:prstGeom>
          <a:solidFill>
            <a:srgbClr val="A3402C"/>
          </a:solidFill>
          <a:ln/>
        </p:spPr>
      </p:sp>
      <p:sp>
        <p:nvSpPr>
          <p:cNvPr id="9" name="Text 7"/>
          <p:cNvSpPr/>
          <p:nvPr/>
        </p:nvSpPr>
        <p:spPr>
          <a:xfrm>
            <a:off x="868680" y="3054096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Elo cold start — newer national teams begin mis-rated at 1500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309360" y="12344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43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309360" y="1847088"/>
            <a:ext cx="82296" cy="82296"/>
          </a:xfrm>
          <a:prstGeom prst="ellipse">
            <a:avLst/>
          </a:prstGeom>
          <a:solidFill>
            <a:srgbClr val="C99A2E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173736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Player-level features (FIFA ratings, market values) and tournament-importance weighting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309360" y="2715768"/>
            <a:ext cx="82296" cy="82296"/>
          </a:xfrm>
          <a:prstGeom prst="ellipse">
            <a:avLst/>
          </a:prstGeom>
          <a:solidFill>
            <a:srgbClr val="C99A2E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260604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Class-imbalance handling for draws + ordinal target reframing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09360" y="3584448"/>
            <a:ext cx="82296" cy="82296"/>
          </a:xfrm>
          <a:prstGeom prst="ellipse">
            <a:avLst/>
          </a:prstGeom>
          <a:solidFill>
            <a:srgbClr val="C99A2E"/>
          </a:solidFill>
          <a:ln/>
        </p:spPr>
      </p:sp>
      <p:sp>
        <p:nvSpPr>
          <p:cNvPr id="16" name="Text 14"/>
          <p:cNvSpPr/>
          <p:nvPr/>
        </p:nvSpPr>
        <p:spPr>
          <a:xfrm>
            <a:off x="6537960" y="347472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faithful 2022 backtest using only pre-November-2022 data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309360" y="4453128"/>
            <a:ext cx="82296" cy="82296"/>
          </a:xfrm>
          <a:prstGeom prst="ellipse">
            <a:avLst/>
          </a:prstGeom>
          <a:solidFill>
            <a:srgbClr val="C99A2E"/>
          </a:solidFill>
          <a:ln/>
        </p:spPr>
      </p:sp>
      <p:sp>
        <p:nvSpPr>
          <p:cNvPr id="18" name="Text 16"/>
          <p:cNvSpPr/>
          <p:nvPr/>
        </p:nvSpPr>
        <p:spPr>
          <a:xfrm>
            <a:off x="6537960" y="4343400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326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Streamlit dashboard with per-match feature contributions — built as this project's bonus feature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Now, let's see it live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325880"/>
            <a:ext cx="9601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AD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dashboard — same Elo + form pipeline as the notebook, containerised with Docker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17320" y="1828800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99A2E"/>
                </a:solidFill>
              </a:rPr>
              <a:t>Lopsided match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EDE7"/>
                </a:solidFill>
              </a:rPr>
              <a:t>Brazil vs Qatar — high home win probability, read live from the app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2542032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4203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17320" y="2542032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99A2E"/>
                </a:solidFill>
              </a:rPr>
              <a:t>The “Why” panel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EDE7"/>
                </a:solidFill>
              </a:rPr>
              <a:t>Elo gap, recent form, and home advantage laid out as the reasoning behind the prediction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22960" y="3255264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1" name="Text 9"/>
          <p:cNvSpPr/>
          <p:nvPr/>
        </p:nvSpPr>
        <p:spPr>
          <a:xfrm>
            <a:off x="822960" y="32552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17320" y="3255264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99A2E"/>
                </a:solidFill>
              </a:rPr>
              <a:t>The headline moment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EDE7"/>
                </a:solidFill>
              </a:rPr>
              <a:t>France vs Spain, home venue OFF — the same live semifinal call from Slide 13, made before it was played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22960" y="3968496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96849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3968496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99A2E"/>
                </a:solidFill>
              </a:rPr>
              <a:t>A close match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EDE7"/>
                </a:solidFill>
              </a:rPr>
              <a:t>Argentina vs France — probabilities tighten up; the model is appropriately less certain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681728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1B4332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68172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417320" y="4681728"/>
            <a:ext cx="9601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C99A2E"/>
                </a:solidFill>
              </a:rPr>
              <a:t>Feature importance 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E4EDE7"/>
                </a:solidFill>
              </a:rPr>
              <a:t>Across 39,000+ training matches, strength gap dominates, then form and defence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3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BDS23114 Data Analytics  •  Predictive Modeling of FIFA World Cup Match Outcomes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2A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B4332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3774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22960" y="32461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99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069080"/>
            <a:ext cx="2743200" cy="0"/>
          </a:xfrm>
          <a:prstGeom prst="line">
            <a:avLst/>
          </a:prstGeom>
          <a:noFill/>
          <a:ln w="19050">
            <a:solidFill>
              <a:srgbClr val="C99A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343400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CAD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— International Football Results (martj42)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CADC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Code: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 — notebook, dashboard, Docker setup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2026-07-12T04:04:23Z</dcterms:created>
  <dcterms:modified xsi:type="dcterms:W3CDTF">2026-07-12T04:04:23Z</dcterms:modified>
</cp:coreProperties>
</file>